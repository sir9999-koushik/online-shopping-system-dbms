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7" r:id="rId6"/>
    <p:sldId id="268" r:id="rId7"/>
    <p:sldId id="259" r:id="rId8"/>
    <p:sldId id="260" r:id="rId9"/>
    <p:sldId id="269" r:id="rId10"/>
    <p:sldId id="270" r:id="rId11"/>
    <p:sldId id="261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62" r:id="rId23"/>
    <p:sldId id="263" r:id="rId24"/>
    <p:sldId id="264" r:id="rId25"/>
    <p:sldId id="265" r:id="rId26"/>
    <p:sldId id="281" r:id="rId27"/>
    <p:sldId id="266" r:id="rId2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88920" cy="5147945"/>
          </a:xfrm>
          <a:prstGeom prst="rect">
            <a:avLst/>
          </a:prstGeom>
          <a:solidFill>
            <a:srgbClr val="F5F7FC"/>
          </a:solidFill>
        </p:spPr>
      </p:sp>
      <p:sp>
        <p:nvSpPr>
          <p:cNvPr id="3" name="Shape 1"/>
          <p:cNvSpPr/>
          <p:nvPr/>
        </p:nvSpPr>
        <p:spPr>
          <a:xfrm>
            <a:off x="2788920" y="0"/>
            <a:ext cx="45720" cy="5148072"/>
          </a:xfrm>
          <a:prstGeom prst="rect">
            <a:avLst/>
          </a:prstGeom>
          <a:solidFill>
            <a:srgbClr val="CADCFC"/>
          </a:solidFill>
        </p:spPr>
      </p:sp>
      <p:sp>
        <p:nvSpPr>
          <p:cNvPr id="4" name="Shape 2"/>
          <p:cNvSpPr/>
          <p:nvPr/>
        </p:nvSpPr>
        <p:spPr>
          <a:xfrm>
            <a:off x="-1005840" y="3200400"/>
            <a:ext cx="2926080" cy="2926080"/>
          </a:xfrm>
          <a:prstGeom prst="ellipse">
            <a:avLst/>
          </a:prstGeom>
          <a:solidFill>
            <a:srgbClr val="CADCFC">
              <a:alpha val="55000"/>
            </a:srgbClr>
          </a:solidFill>
        </p:spPr>
      </p:sp>
      <p:sp>
        <p:nvSpPr>
          <p:cNvPr id="6" name="Text 3"/>
          <p:cNvSpPr/>
          <p:nvPr/>
        </p:nvSpPr>
        <p:spPr>
          <a:xfrm>
            <a:off x="365760" y="502920"/>
            <a:ext cx="24688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MANAGEMENT SYSTEM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1645920"/>
            <a:ext cx="2017395" cy="1135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2226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Project </a:t>
            </a:r>
            <a:r>
              <a:rPr lang="en-US" sz="2000" b="1" dirty="0">
                <a:solidFill>
                  <a:srgbClr val="22262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Review 1 &amp; 2</a:t>
            </a:r>
            <a:endParaRPr lang="en-US" sz="2000" b="1" dirty="0">
              <a:solidFill>
                <a:srgbClr val="22262E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  <a:p>
            <a:pPr marL="0" indent="0">
              <a:buNone/>
            </a:pPr>
            <a:endParaRPr lang="en-US" sz="2000" b="1" dirty="0">
              <a:solidFill>
                <a:srgbClr val="22262E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239770" y="842645"/>
            <a:ext cx="53035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ONLINE SHOPPING SYSTEM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 flipV="1">
            <a:off x="3329305" y="2146935"/>
            <a:ext cx="1958340" cy="76200"/>
          </a:xfrm>
          <a:prstGeom prst="rect">
            <a:avLst/>
          </a:prstGeom>
          <a:solidFill>
            <a:srgbClr val="F96167"/>
          </a:solidFill>
        </p:spPr>
      </p:sp>
      <p:sp>
        <p:nvSpPr>
          <p:cNvPr id="10" name="Text 7"/>
          <p:cNvSpPr/>
          <p:nvPr/>
        </p:nvSpPr>
        <p:spPr>
          <a:xfrm>
            <a:off x="3566160" y="2788920"/>
            <a:ext cx="5303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79140" y="2571623"/>
            <a:ext cx="530352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Team:</a:t>
            </a:r>
            <a:endParaRPr lang="en-US" sz="1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B.SRI KOUSHIK - 25B11AI155</a:t>
            </a:r>
            <a:endParaRPr lang="en-US" sz="1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D.AVINASH - 25B11AI244</a:t>
            </a:r>
            <a:endParaRPr lang="en-US" sz="1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O.VENU GOPAL - 25B11AI856</a:t>
            </a:r>
            <a:endParaRPr lang="en-US" sz="1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T.SAI SUSHMANTH - 25B11AIA51</a:t>
            </a:r>
            <a:endParaRPr lang="en-US" sz="1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
</a:t>
            </a: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guide/subject in charge:</a:t>
            </a:r>
            <a:endParaRPr lang="en-US" sz="1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 NARASAMBA VANGURI MAM</a:t>
            </a:r>
            <a:endParaRPr lang="en-US" sz="1400" dirty="0"/>
          </a:p>
        </p:txBody>
      </p:sp>
      <p:pic>
        <p:nvPicPr>
          <p:cNvPr id="1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39745" y="323850"/>
            <a:ext cx="4264660" cy="5187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5F7FC"/>
          </a:solidFill>
        </p:spPr>
      </p:sp>
      <p:sp>
        <p:nvSpPr>
          <p:cNvPr id="4" name="Text 2"/>
          <p:cNvSpPr/>
          <p:nvPr/>
        </p:nvSpPr>
        <p:spPr>
          <a:xfrm>
            <a:off x="548640" y="137160"/>
            <a:ext cx="6583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Introduction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9456"/>
            <a:ext cx="137160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097280"/>
            <a:ext cx="49377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shopping has become the primary way customers discover and buy products. Behind every storefront is a database that keeps products, customers, orders and payments consistent.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286000"/>
            <a:ext cx="493776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browse a catalogue, add items to a cart and place orders online.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product, user, order and payment data is stored in a relational database.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Relationships between tables keep records linked, accurate and easy to query.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applies DBMS concepts to a real, everyday business problem.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0720" y="1234440"/>
            <a:ext cx="2926080" cy="3383280"/>
          </a:xfrm>
          <a:prstGeom prst="roundRect">
            <a:avLst>
              <a:gd name="adj" fmla="val 3125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89320" y="146304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7"/>
          <p:cNvSpPr/>
          <p:nvPr/>
        </p:nvSpPr>
        <p:spPr>
          <a:xfrm>
            <a:off x="5989320" y="146304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92240" y="141732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Catalogue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92240" y="1682496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Products, categories, stock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89320" y="224028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1"/>
          <p:cNvSpPr/>
          <p:nvPr/>
        </p:nvSpPr>
        <p:spPr>
          <a:xfrm>
            <a:off x="5989320" y="224028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219456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92240" y="2459736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Profiles and addresses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89320" y="301752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/>
          <p:nvPr/>
        </p:nvSpPr>
        <p:spPr>
          <a:xfrm>
            <a:off x="5989320" y="30175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92240" y="297180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92240" y="3236976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Cart, checkout, delivery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89320" y="379476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/>
          <p:nvPr/>
        </p:nvSpPr>
        <p:spPr>
          <a:xfrm>
            <a:off x="5989320" y="37947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92240" y="37490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492240" y="4014216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Modes, status, invoices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1. Abstract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1115568"/>
            <a:ext cx="48920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115568"/>
            <a:ext cx="54864" cy="11704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28016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25295" y="1188720"/>
            <a:ext cx="4087368" cy="102412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2A3A"/>
                </a:solidFill>
                <a:latin typeface="Aptos"/>
              </a:rPr>
              <a:t>The Online Shopping System is a database-driven application for managing an e-commerce store.</a:t>
            </a:r>
            <a:endParaRPr sz="14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50992" y="1115568"/>
            <a:ext cx="292608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50992" y="1115568"/>
            <a:ext cx="54864" cy="2331720"/>
          </a:xfrm>
          <a:prstGeom prst="rect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15583" y="1280160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09359" y="1188720"/>
            <a:ext cx="2121408" cy="2185415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2A3A"/>
                </a:solidFill>
                <a:latin typeface="Aptos"/>
              </a:rPr>
              <a:t>It stores products, categories, customers, carts, orders, payments and shipping information.</a:t>
            </a:r>
            <a:endParaRPr sz="13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2468880"/>
            <a:ext cx="4892040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468880"/>
            <a:ext cx="54864" cy="97840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2633472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25295" y="2542032"/>
            <a:ext cx="4087368" cy="832104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42A3A"/>
                </a:solidFill>
                <a:latin typeface="Aptos"/>
              </a:rPr>
              <a:t>The system reduces manual record keeping, data duplication and inconsistent stock information.</a:t>
            </a:r>
            <a:endParaRPr sz="13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66928" y="3639312"/>
            <a:ext cx="8010144" cy="8229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384" y="3858768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25880" y="3730752"/>
            <a:ext cx="6949440" cy="6217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SQL operations are used to insert, update, delete and retrieve shopping data.</a:t>
            </a:r>
            <a:endParaRPr sz="14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100" b="1">
                <a:solidFill>
                  <a:srgbClr val="1E2761"/>
                </a:solidFill>
                <a:latin typeface="Georgia" panose="02040502050405020303"/>
              </a:rPr>
              <a:t>2. Finalize Title, Objectives &amp; Problem Statement</a:t>
            </a:r>
            <a:endParaRPr sz="21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078992"/>
            <a:ext cx="7955279" cy="713232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ptos"/>
              </a:rPr>
              <a:t>Final Title: ONLINE SHOPPING SYSTEM</a:t>
            </a:r>
            <a:endParaRPr sz="1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1975104"/>
            <a:ext cx="3611880" cy="274320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4380"/>
                </a:solidFill>
                <a:latin typeface="Aptos"/>
              </a:rPr>
              <a:t>OBJECTIVE</a:t>
            </a:r>
            <a:endParaRPr sz="1200" b="1">
              <a:solidFill>
                <a:srgbClr val="2E438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18888" y="1975104"/>
            <a:ext cx="3611880" cy="274320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96167"/>
                </a:solidFill>
                <a:latin typeface="Aptos"/>
              </a:rPr>
              <a:t>PROBLEM</a:t>
            </a:r>
            <a:endParaRPr sz="1200" b="1">
              <a:solidFill>
                <a:srgbClr val="F96167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379476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2A3A"/>
                </a:solidFill>
                <a:latin typeface="Aptos"/>
              </a:rPr>
              <a:t>Objective: Build a centralised database to manage products, customers, orders, payments and delivery.</a:t>
            </a:r>
            <a:endParaRPr sz="14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54880" y="2286000"/>
            <a:ext cx="3794760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42A3A"/>
                </a:solidFill>
                <a:latin typeface="Aptos"/>
              </a:rPr>
              <a:t>Problem: Manual and scattered records make stock, order tracking and customer information difficult to manage.</a:t>
            </a:r>
            <a:endParaRPr sz="14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242816" y="2724912"/>
            <a:ext cx="658368" cy="502920"/>
          </a:xfrm>
          <a:prstGeom prst="chevron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17320" y="3913632"/>
            <a:ext cx="6309360" cy="566928"/>
          </a:xfrm>
          <a:prstGeom prst="roundRect">
            <a:avLst>
              <a:gd name="adj" fmla="val 8000"/>
            </a:avLst>
          </a:prstGeom>
          <a:solidFill>
            <a:srgbClr val="EC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761"/>
                </a:solidFill>
                <a:latin typeface="Aptos"/>
              </a:rPr>
              <a:t>The proposed DBMS provides organised, reliable and easily retrievable data.</a:t>
            </a:r>
            <a:endParaRPr sz="1300" b="1">
              <a:solidFill>
                <a:srgbClr val="1E2761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5F7FC"/>
          </a:solidFill>
        </p:spPr>
      </p:sp>
      <p:sp>
        <p:nvSpPr>
          <p:cNvPr id="4" name="Text 2"/>
          <p:cNvSpPr/>
          <p:nvPr/>
        </p:nvSpPr>
        <p:spPr>
          <a:xfrm>
            <a:off x="548640" y="137160"/>
            <a:ext cx="6583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9456"/>
            <a:ext cx="137160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143000"/>
            <a:ext cx="813816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</p:spPr>
      </p:sp>
      <p:sp>
        <p:nvSpPr>
          <p:cNvPr id="7" name="Text 4"/>
          <p:cNvSpPr/>
          <p:nvPr/>
        </p:nvSpPr>
        <p:spPr>
          <a:xfrm>
            <a:off x="822960" y="1234440"/>
            <a:ext cx="75895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and manually managed stores cannot track products, customers and orders at the scale online selling demands.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441448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Scattered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770632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Product, customer and order records kept in separate files or registers.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23317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2441448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 errors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983480" y="2770632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 counts are not updated in real time, causing over-selling.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721608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retrieval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77240" y="4050792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an order or purchase history takes manual searching.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54880" y="36118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3721608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order tracking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983480" y="4050792"/>
            <a:ext cx="3520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 cannot see order or payment status reliably.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5F7FC"/>
          </a:solidFill>
        </p:spPr>
      </p:sp>
      <p:sp>
        <p:nvSpPr>
          <p:cNvPr id="4" name="Text 2"/>
          <p:cNvSpPr/>
          <p:nvPr/>
        </p:nvSpPr>
        <p:spPr>
          <a:xfrm>
            <a:off x="548640" y="137160"/>
            <a:ext cx="6583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Project Objectives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9456"/>
            <a:ext cx="137160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18872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4"/>
          <p:cNvSpPr/>
          <p:nvPr/>
        </p:nvSpPr>
        <p:spPr>
          <a:xfrm>
            <a:off x="685800" y="11887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1170432"/>
            <a:ext cx="7406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centralised database for all online shopping data.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85800" y="1810512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7"/>
          <p:cNvSpPr/>
          <p:nvPr/>
        </p:nvSpPr>
        <p:spPr>
          <a:xfrm>
            <a:off x="685800" y="181051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1792224"/>
            <a:ext cx="7406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 product, category, stock and pricing information accurately.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85800" y="2432304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0"/>
          <p:cNvSpPr/>
          <p:nvPr/>
        </p:nvSpPr>
        <p:spPr>
          <a:xfrm>
            <a:off x="685800" y="243230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2414016"/>
            <a:ext cx="7406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customer registration, profiles and delivery addresses.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5800" y="3054096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3"/>
          <p:cNvSpPr/>
          <p:nvPr/>
        </p:nvSpPr>
        <p:spPr>
          <a:xfrm>
            <a:off x="685800" y="305409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234440" y="3035808"/>
            <a:ext cx="7406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cart, order placement, order items and order status.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85800" y="367588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6"/>
          <p:cNvSpPr/>
          <p:nvPr/>
        </p:nvSpPr>
        <p:spPr>
          <a:xfrm>
            <a:off x="685800" y="367588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34440" y="3657600"/>
            <a:ext cx="7406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payment mode, transaction status and invoice details.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85800" y="429768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19"/>
          <p:cNvSpPr/>
          <p:nvPr/>
        </p:nvSpPr>
        <p:spPr>
          <a:xfrm>
            <a:off x="685800" y="429768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234440" y="4279392"/>
            <a:ext cx="7406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Enforce data integrity with primary keys, foreign keys and constraints.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985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3. Identify Entities &amp; Attributes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685032" y="1938528"/>
            <a:ext cx="1783080" cy="11430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ONLINE
SHOPPING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078992"/>
            <a:ext cx="27889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078992"/>
            <a:ext cx="54864" cy="987552"/>
          </a:xfrm>
          <a:prstGeom prst="rect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243584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25295" y="1152144"/>
            <a:ext cx="1984248" cy="84124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Customer: Customer_ID, Name, Email, Phone, Address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779008" y="1078992"/>
            <a:ext cx="27889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79008" y="1078992"/>
            <a:ext cx="54864" cy="987552"/>
          </a:xfrm>
          <a:prstGeom prst="rect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943600" y="1243584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37376" y="1152144"/>
            <a:ext cx="1984248" cy="84124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Product: Product_ID, Product_Name, Category_ID, Price, Stock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3246120"/>
            <a:ext cx="27889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46120"/>
            <a:ext cx="54864" cy="9875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410712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25295" y="3319272"/>
            <a:ext cx="1984248" cy="84124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Category: Category_ID, Category_Name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79008" y="3246120"/>
            <a:ext cx="27889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79008" y="3246120"/>
            <a:ext cx="54864" cy="987552"/>
          </a:xfrm>
          <a:prstGeom prst="rect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0" y="3410712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37376" y="3319272"/>
            <a:ext cx="1984248" cy="84124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Order: Order_ID, Customer_ID, Order_Date, Total_Amount, Status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172968" y="3767328"/>
            <a:ext cx="278892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72968" y="3767328"/>
            <a:ext cx="54864" cy="621792"/>
          </a:xfrm>
          <a:prstGeom prst="rect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37560" y="3931920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31336" y="3840480"/>
            <a:ext cx="1984248" cy="47548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242A3A"/>
                </a:solidFill>
                <a:latin typeface="Aptos"/>
              </a:rPr>
              <a:t>Payment: Payment_ID, Order_ID, Payment_Mode, Payment_Status, Invoice_No</a:t>
            </a:r>
            <a:endParaRPr sz="102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4. Design ER Diagram &amp; Relationships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" y="1234440"/>
            <a:ext cx="1371600" cy="603504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CUSTOMER</a:t>
            </a:r>
            <a:endParaRPr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Chevron 6"/>
          <p:cNvSpPr/>
          <p:nvPr/>
        </p:nvSpPr>
        <p:spPr>
          <a:xfrm>
            <a:off x="1856232" y="1389888"/>
            <a:ext cx="246888" cy="256032"/>
          </a:xfrm>
          <a:prstGeom prst="chevron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48840" y="1234440"/>
            <a:ext cx="1371600" cy="603504"/>
          </a:xfrm>
          <a:prstGeom prst="roundRect">
            <a:avLst>
              <a:gd name="adj" fmla="val 8000"/>
            </a:avLst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ORDER</a:t>
            </a:r>
            <a:endParaRPr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3593592" y="1389888"/>
            <a:ext cx="246888" cy="256032"/>
          </a:xfrm>
          <a:prstGeom prst="chevron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86200" y="1234440"/>
            <a:ext cx="1371600" cy="603504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ORDER ITEM</a:t>
            </a:r>
            <a:endParaRPr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5330952" y="1389888"/>
            <a:ext cx="246888" cy="256032"/>
          </a:xfrm>
          <a:prstGeom prst="chevron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23560" y="1234440"/>
            <a:ext cx="1371600" cy="603504"/>
          </a:xfrm>
          <a:prstGeom prst="roundRect">
            <a:avLst>
              <a:gd name="adj" fmla="val 8000"/>
            </a:avLst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PRODUCT</a:t>
            </a:r>
            <a:endParaRPr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7068312" y="1389888"/>
            <a:ext cx="246888" cy="256032"/>
          </a:xfrm>
          <a:prstGeom prst="chevron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0920" y="1234440"/>
            <a:ext cx="1371600" cy="603504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CATEGORY</a:t>
            </a:r>
            <a:endParaRPr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5800" y="2157984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234440" y="2121408"/>
            <a:ext cx="7223760" cy="4389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Customer places one or more Orders.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85800" y="2679191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4440" y="2642615"/>
            <a:ext cx="7223760" cy="4389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Order contains one or more Order Items.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85800" y="3200400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34440" y="3163824"/>
            <a:ext cx="7223760" cy="4389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Product belongs to a Category and can appear in many Order Items.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85800" y="3721607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34440" y="3685031"/>
            <a:ext cx="7223760" cy="4389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Order is associated with Payment and Shipping information.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85800" y="4242816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34440" y="4206240"/>
            <a:ext cx="7223760" cy="4389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Primary-key and foreign-key relationships connect the entities.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5F7FC"/>
          </a:solidFill>
        </p:spPr>
      </p:sp>
      <p:sp>
        <p:nvSpPr>
          <p:cNvPr id="4" name="Text 2"/>
          <p:cNvSpPr/>
          <p:nvPr/>
        </p:nvSpPr>
        <p:spPr>
          <a:xfrm>
            <a:off x="548640" y="137160"/>
            <a:ext cx="6583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ER Diagram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9456"/>
            <a:ext cx="1371600" cy="5029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960120"/>
            <a:ext cx="7461504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5. Prepare Relational Database Schema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14300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3749039" cy="23774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53896"/>
            <a:ext cx="3419856" cy="53035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CUSTOMER(Customer_ID, Name, Email, Phone, Address)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800600" y="114300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1143000"/>
            <a:ext cx="3749039" cy="23774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1453896"/>
            <a:ext cx="3419856" cy="53035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CATEGORY(Category_ID, Category_Name)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233172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331720"/>
            <a:ext cx="3749039" cy="23774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642615"/>
            <a:ext cx="3419856" cy="53035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PRODUCT(Product_ID, Category_ID, Product_Name, Price, Stock)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00600" y="233172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331720"/>
            <a:ext cx="3749039" cy="23774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2642615"/>
            <a:ext cx="3419856" cy="53035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ORDERS(Order_ID, Customer_ID, Order_Date, Total_Amount, Status)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97480" y="3520440"/>
            <a:ext cx="3749039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97480" y="3520440"/>
            <a:ext cx="3749039" cy="23774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62072" y="3831336"/>
            <a:ext cx="3419856" cy="53035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PAYMENT(Payment_ID, Order_ID, Payment_Mode, Payment_Status, Invoice_No)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6. Define Primary &amp; Foreign Keys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115568"/>
            <a:ext cx="3822191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27448" y="1115568"/>
            <a:ext cx="3822191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15568"/>
            <a:ext cx="3822191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PRIMARY KEYS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27448" y="1115568"/>
            <a:ext cx="3822191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FOREIGN KEYS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3364992" cy="685800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42A3A"/>
                </a:solidFill>
                <a:latin typeface="Aptos"/>
              </a:rPr>
              <a:t>Primary keys uniquely identify every record in a table.</a:t>
            </a:r>
            <a:endParaRPr sz="12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670048"/>
            <a:ext cx="3364992" cy="129844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42A3A"/>
                </a:solidFill>
                <a:latin typeface="Aptos"/>
              </a:rPr>
              <a:t>Customer_ID, Product_ID, Category_ID, Order_ID and Payment_ID act as primary keys.</a:t>
            </a:r>
            <a:endParaRPr sz="12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56048" y="1783080"/>
            <a:ext cx="3364992" cy="65836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42A3A"/>
                </a:solidFill>
                <a:latin typeface="Aptos"/>
              </a:rPr>
              <a:t>Foreign keys connect related tables and maintain referential integrity.</a:t>
            </a:r>
            <a:endParaRPr sz="12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956048" y="2487168"/>
            <a:ext cx="3364992" cy="56692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PRODUCT.Category_ID → CATEGORY.Category_ID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56048" y="3127248"/>
            <a:ext cx="3364992" cy="1051560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ORDERS.Customer_ID → CUSTOMER.Customer_ID and PAYMENT.Order_ID → ORDERS.Order_ID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100" b="1">
                <a:solidFill>
                  <a:srgbClr val="1E2761"/>
                </a:solidFill>
                <a:latin typeface="Georgia" panose="02040502050405020303"/>
              </a:rPr>
              <a:t>7. Create GitHub Repo &amp; Responsibilities</a:t>
            </a:r>
            <a:endParaRPr sz="21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042415"/>
            <a:ext cx="7955279" cy="713232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Create a shared GitHub repository for database scripts, documentation and presentation files.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75895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93392"/>
            <a:ext cx="1691640" cy="475488"/>
          </a:xfrm>
          <a:prstGeom prst="roundRect">
            <a:avLst>
              <a:gd name="adj" fmla="val 8000"/>
            </a:avLst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TEAM MEMBER 1</a:t>
            </a:r>
            <a:endParaRPr sz="9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06040" y="2002536"/>
            <a:ext cx="5577840" cy="4389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B.SRI KOUSHIK - 25B11AI155: database/schema work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2596896"/>
            <a:ext cx="75895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596896"/>
            <a:ext cx="1691640" cy="475488"/>
          </a:xfrm>
          <a:prstGeom prst="roundRect">
            <a:avLst>
              <a:gd name="adj" fmla="val 8000"/>
            </a:avLst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TEAM MEMBER 2</a:t>
            </a:r>
            <a:endParaRPr sz="9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06040" y="2606040"/>
            <a:ext cx="5577840" cy="4389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D.AVINASH - 25B11AI244: SQL queries and testing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3200400"/>
            <a:ext cx="75895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200400"/>
            <a:ext cx="1691640" cy="475488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TEAM MEMBER 3</a:t>
            </a:r>
            <a:endParaRPr sz="9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06040" y="3209544"/>
            <a:ext cx="5577840" cy="4389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O.VENU GOPAL - 25B11AI856: ER diagram and documentation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803904"/>
            <a:ext cx="758952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803904"/>
            <a:ext cx="1691640" cy="475488"/>
          </a:xfrm>
          <a:prstGeom prst="roundRect">
            <a:avLst>
              <a:gd name="adj" fmla="val 8000"/>
            </a:avLst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TEAM MEMBER 4</a:t>
            </a:r>
            <a:endParaRPr sz="9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06040" y="3813048"/>
            <a:ext cx="5577840" cy="4389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T.SAI SUSHMANTH - 25B11AIA51: presentation, integration and demonstration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8. Database Creation &amp; Constraints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566160" y="1572768"/>
            <a:ext cx="2011680" cy="20116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DATABASE
INTEGRITY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1069848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69848"/>
            <a:ext cx="54864" cy="1051560"/>
          </a:xfrm>
          <a:prstGeom prst="rect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" y="1234439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2728" y="1143000"/>
            <a:ext cx="1709928" cy="905255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2A3A"/>
                </a:solidFill>
                <a:latin typeface="Aptos"/>
              </a:rPr>
              <a:t>Create the Online Shopping database and required relational tables.</a:t>
            </a:r>
            <a:endParaRPr sz="11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35040" y="1069848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069848"/>
            <a:ext cx="54864" cy="1051560"/>
          </a:xfrm>
          <a:prstGeom prst="rect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99631" y="1234439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93407" y="1143000"/>
            <a:ext cx="1709928" cy="905255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2A3A"/>
                </a:solidFill>
                <a:latin typeface="Aptos"/>
              </a:rPr>
              <a:t>Apply PRIMARY KEY, FOREIGN KEY, NOT NULL, UNIQUE and CHECK constraints where required.</a:t>
            </a:r>
            <a:endParaRPr sz="11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4360" y="324612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46120"/>
            <a:ext cx="54864" cy="10515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58952" y="3410712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52728" y="3319272"/>
            <a:ext cx="1709928" cy="905255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2A3A"/>
                </a:solidFill>
                <a:latin typeface="Aptos"/>
              </a:rPr>
              <a:t>Use suitable data types for IDs, names, prices, dates and status fields.</a:t>
            </a:r>
            <a:endParaRPr sz="11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035040" y="3246120"/>
            <a:ext cx="25146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3246120"/>
            <a:ext cx="54864" cy="1051560"/>
          </a:xfrm>
          <a:prstGeom prst="rect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99631" y="3410712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93407" y="3319272"/>
            <a:ext cx="1709928" cy="905255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2A3A"/>
                </a:solidFill>
                <a:latin typeface="Aptos"/>
              </a:rPr>
              <a:t>Constraints prevent invalid, duplicate or inconsistent records.</a:t>
            </a:r>
            <a:endParaRPr sz="11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9. Insert Sample Data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097280"/>
            <a:ext cx="37033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097280"/>
            <a:ext cx="370332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CATEGORIES</a:t>
            </a:r>
            <a:endParaRPr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2" y="1536192"/>
            <a:ext cx="3374136" cy="71323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Insert sample categories such as Electronics, Fashion and Home Appliances.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63440" y="1097280"/>
            <a:ext cx="37033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370332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PRODUCTS</a:t>
            </a:r>
            <a:endParaRPr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28032" y="1536192"/>
            <a:ext cx="3374136" cy="71323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Insert products with product ID, category, price and available stock.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4360" y="2724912"/>
            <a:ext cx="37033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724912"/>
            <a:ext cx="3703320" cy="34747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CUSTOMERS</a:t>
            </a:r>
            <a:endParaRPr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" y="3163824"/>
            <a:ext cx="3374136" cy="71323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Insert customer records with names, email, phone and delivery address.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663440" y="2724912"/>
            <a:ext cx="37033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724912"/>
            <a:ext cx="370332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ORDERS + PAYMENT</a:t>
            </a:r>
            <a:endParaRPr sz="10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28032" y="3163824"/>
            <a:ext cx="3374136" cy="71323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Insert orders, order items and payment records to demonstrate the complete purchase flow.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10. DDL, DML &amp; DQL Operations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188720"/>
            <a:ext cx="2468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6464" y="1417320"/>
            <a:ext cx="804672" cy="80467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DDL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5528" y="2331720"/>
            <a:ext cx="2066543" cy="74980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DDL: CREATE, ALTER, DROP and TRUNCATE are used to define database structures.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91840" y="1188720"/>
            <a:ext cx="2468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23944" y="1417320"/>
            <a:ext cx="804672" cy="804672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DML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93008" y="2331720"/>
            <a:ext cx="2066543" cy="74980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DML: INSERT, UPDATE and DELETE are used to modify records.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989320" y="1188720"/>
            <a:ext cx="2468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21424" y="1417320"/>
            <a:ext cx="804672" cy="80467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DQL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90488" y="2331720"/>
            <a:ext cx="2066543" cy="749808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DQL: SELECT is used to retrieve and analyse data.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188720" y="3611880"/>
            <a:ext cx="6766560" cy="713232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These operations demonstrate practical SQL usage in the Online Shopping System.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11. CRUD Operations &amp; SQL Queries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243584"/>
            <a:ext cx="1938528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5" y="14813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993392"/>
            <a:ext cx="1609344" cy="25603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761"/>
                </a:solidFill>
                <a:latin typeface="Aptos"/>
              </a:rPr>
              <a:t>CREATE</a:t>
            </a:r>
            <a:endParaRPr sz="1100" b="1">
              <a:solidFill>
                <a:srgbClr val="1E276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3504" y="2304288"/>
            <a:ext cx="1645920" cy="822960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Create: add a new customer, product or order using INSERT.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06040" y="1243584"/>
            <a:ext cx="1938528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74136" y="1481328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70632" y="1993392"/>
            <a:ext cx="1609344" cy="25603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4380"/>
                </a:solidFill>
                <a:latin typeface="Aptos"/>
              </a:rPr>
              <a:t>READ</a:t>
            </a:r>
            <a:endParaRPr sz="1100" b="1">
              <a:solidFill>
                <a:srgbClr val="2E4380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52344" y="2304288"/>
            <a:ext cx="1645920" cy="822960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Read: retrieve products, customers or orders using SELECT.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754880" y="1243584"/>
            <a:ext cx="1938528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22976" y="1481328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19472" y="1993392"/>
            <a:ext cx="1609344" cy="25603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96167"/>
                </a:solidFill>
                <a:latin typeface="Aptos"/>
              </a:rPr>
              <a:t>UPDATE</a:t>
            </a:r>
            <a:endParaRPr sz="1100" b="1">
              <a:solidFill>
                <a:srgbClr val="F9616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01184" y="2304288"/>
            <a:ext cx="1645920" cy="822960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Update: modify stock, price or order status using UPDATE.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903720" y="1243584"/>
            <a:ext cx="1938528" cy="21579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71816" y="14813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68312" y="1993392"/>
            <a:ext cx="1609344" cy="25603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2761"/>
                </a:solidFill>
                <a:latin typeface="Aptos"/>
              </a:rPr>
              <a:t>DELETE</a:t>
            </a:r>
            <a:endParaRPr sz="1100" b="1">
              <a:solidFill>
                <a:srgbClr val="1E276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50024" y="2304288"/>
            <a:ext cx="1645920" cy="822960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Delete: remove eligible records using DELETE while respecting relationships.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05840" y="3675887"/>
            <a:ext cx="7132320" cy="621792"/>
          </a:xfrm>
          <a:prstGeom prst="roundRect">
            <a:avLst>
              <a:gd name="adj" fmla="val 8000"/>
            </a:avLst>
          </a:prstGeom>
          <a:solidFill>
            <a:srgbClr val="EC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Aptos"/>
              </a:rPr>
              <a:t>Queries can also use WHERE, JOIN, ORDER BY and aggregate functions.</a:t>
            </a:r>
            <a:endParaRPr sz="1200" b="1">
              <a:solidFill>
                <a:srgbClr val="1E2761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12. Data Integrity &amp; Validation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1188720"/>
            <a:ext cx="1828800" cy="3931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ENTITY</a:t>
            </a:r>
            <a:endParaRPr sz="9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581912"/>
            <a:ext cx="18288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2A3A"/>
                </a:solidFill>
                <a:latin typeface="Aptos"/>
              </a:rPr>
              <a:t>Entity integrity is maintained using primary keys.</a:t>
            </a:r>
            <a:endParaRPr sz="11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96896" y="1188720"/>
            <a:ext cx="1828800" cy="3931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REFERENTIAL</a:t>
            </a:r>
            <a:endParaRPr sz="9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596896" y="1581912"/>
            <a:ext cx="18288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2A3A"/>
                </a:solidFill>
                <a:latin typeface="Aptos"/>
              </a:rPr>
              <a:t>Referential integrity is maintained using foreign keys.</a:t>
            </a:r>
            <a:endParaRPr sz="11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26864" y="1188720"/>
            <a:ext cx="1828800" cy="39319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COMPLETENESS</a:t>
            </a:r>
            <a:endParaRPr sz="9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26864" y="1581912"/>
            <a:ext cx="18288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2A3A"/>
                </a:solidFill>
                <a:latin typeface="Aptos"/>
              </a:rPr>
              <a:t>NOT NULL and UNIQUE constraints prevent incomplete or duplicate data.</a:t>
            </a:r>
            <a:endParaRPr sz="11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56832" y="1188720"/>
            <a:ext cx="1828800" cy="39319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ptos"/>
              </a:rPr>
              <a:t>VALIDATION</a:t>
            </a:r>
            <a:endParaRPr sz="9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656832" y="1581912"/>
            <a:ext cx="182880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2A3A"/>
                </a:solidFill>
                <a:latin typeface="Aptos"/>
              </a:rPr>
              <a:t>CHECK constraints can validate values such as price, stock and status.</a:t>
            </a:r>
            <a:endParaRPr sz="110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143000" y="3913632"/>
            <a:ext cx="6858000" cy="530352"/>
          </a:xfrm>
          <a:prstGeom prst="roundRect">
            <a:avLst>
              <a:gd name="adj" fmla="val 8000"/>
            </a:avLst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Validation keeps customer, product, order and payment records consistent.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13. Project Documentation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0120" y="2642616"/>
            <a:ext cx="7223760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6424" y="2468880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1170432"/>
            <a:ext cx="1417320" cy="10789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242A3A"/>
                </a:solidFill>
                <a:latin typeface="Aptos"/>
              </a:rPr>
              <a:t>Document the project title, abstract, objectives and problem statement.</a:t>
            </a:r>
            <a:endParaRPr sz="102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9" name="Oval 8"/>
          <p:cNvSpPr/>
          <p:nvPr/>
        </p:nvSpPr>
        <p:spPr>
          <a:xfrm>
            <a:off x="2706624" y="2468880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94560" y="2999232"/>
            <a:ext cx="1417320" cy="10789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242A3A"/>
                </a:solidFill>
                <a:latin typeface="Aptos"/>
              </a:rPr>
              <a:t>Include identified entities, attributes, ER diagram and relational schema.</a:t>
            </a:r>
            <a:endParaRPr sz="102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306824" y="2468880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94760" y="1170432"/>
            <a:ext cx="1417320" cy="10789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242A3A"/>
                </a:solidFill>
                <a:latin typeface="Aptos"/>
              </a:rPr>
              <a:t>Record SQL table creation, constraints, sample data and important queries.</a:t>
            </a:r>
            <a:endParaRPr sz="102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07024" y="2468880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4960" y="2999232"/>
            <a:ext cx="1417320" cy="10789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242A3A"/>
                </a:solidFill>
                <a:latin typeface="Aptos"/>
              </a:rPr>
              <a:t>Maintain GitHub files, team responsibilities, screenshots and database outputs.</a:t>
            </a:r>
            <a:endParaRPr sz="102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07224" y="2468880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95160" y="1170432"/>
            <a:ext cx="1417320" cy="10789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rgbClr val="242A3A"/>
                </a:solidFill>
                <a:latin typeface="Aptos"/>
              </a:rPr>
              <a:t>Use the documentation as a guide for development, testing and presentation.</a:t>
            </a:r>
            <a:endParaRPr sz="102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14. Demonstrate &amp; Present Database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" y="1828800"/>
            <a:ext cx="7543800" cy="73152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1389888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139696"/>
            <a:ext cx="1463040" cy="13533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Demonstrate database creation and table structure.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1920240" y="1554480"/>
            <a:ext cx="228600" cy="237744"/>
          </a:xfrm>
          <a:prstGeom prst="chevron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0048" y="1389888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21991" y="2139696"/>
            <a:ext cx="1463040" cy="13533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Show sample records for customers, products, orders and payments.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3639311" y="1554480"/>
            <a:ext cx="228600" cy="237744"/>
          </a:xfrm>
          <a:prstGeom prst="chevron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1389888"/>
            <a:ext cx="566928" cy="56692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41063" y="2139696"/>
            <a:ext cx="1463040" cy="13533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Execute representative DDL, DML, DQL and CRUD queries.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5358383" y="1554480"/>
            <a:ext cx="228600" cy="237744"/>
          </a:xfrm>
          <a:prstGeom prst="chevron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08192" y="1389888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0136" y="2139696"/>
            <a:ext cx="1463040" cy="13533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Explain primary keys, foreign keys, constraints and relationships.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7077455" y="1554480"/>
            <a:ext cx="228600" cy="237744"/>
          </a:xfrm>
          <a:prstGeom prst="chevron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27264" y="1389888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79208" y="2139696"/>
            <a:ext cx="1463040" cy="135331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42A3A"/>
                </a:solidFill>
                <a:latin typeface="Aptos"/>
              </a:rPr>
              <a:t>Present the complete shopping flow from product selection to payment and delivery.</a:t>
            </a:r>
            <a:endParaRPr sz="10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325880" y="3767328"/>
            <a:ext cx="6492240" cy="566928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ptos"/>
              </a:rPr>
              <a:t>CREATE  →  LOAD  →  QUERY  →  EXPLAIN  →  PRESENT</a:t>
            </a:r>
            <a:endParaRPr sz="125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5F7FC"/>
          </a:solidFill>
        </p:spPr>
      </p:sp>
      <p:sp>
        <p:nvSpPr>
          <p:cNvPr id="4" name="Text 2"/>
          <p:cNvSpPr/>
          <p:nvPr/>
        </p:nvSpPr>
        <p:spPr>
          <a:xfrm>
            <a:off x="548640" y="137160"/>
            <a:ext cx="6583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Existing System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9456"/>
            <a:ext cx="137160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143000"/>
            <a:ext cx="512064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and stock details are maintained manually in files or spreadsheets.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information is collected repeatedly for every purchase.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Orders are recorded on paper, so tracking status is difficult.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 is updated late, leading to wrong availability and cancelled orders.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records are stored separately from order records.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Generating sales or purchase reports requires manual effort.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52160" y="1280160"/>
            <a:ext cx="2834640" cy="3200400"/>
          </a:xfrm>
          <a:prstGeom prst="roundRect">
            <a:avLst>
              <a:gd name="adj" fmla="val 3226"/>
            </a:avLst>
          </a:prstGeom>
          <a:solidFill>
            <a:srgbClr val="FDEDED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35040" y="1463040"/>
            <a:ext cx="2468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035040" y="1965960"/>
            <a:ext cx="246888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duplication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Inconsistent stock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retrieval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order tracking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 data security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 to scale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5F7FC"/>
          </a:solidFill>
        </p:spPr>
      </p:sp>
      <p:sp>
        <p:nvSpPr>
          <p:cNvPr id="4" name="Text 2"/>
          <p:cNvSpPr/>
          <p:nvPr/>
        </p:nvSpPr>
        <p:spPr>
          <a:xfrm>
            <a:off x="548640" y="137160"/>
            <a:ext cx="6583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Proposed System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9456"/>
            <a:ext cx="137160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097280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centralised relational database powers the whole store, so every module reads and writes the same trusted data.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</p:spPr>
      </p:sp>
      <p:sp>
        <p:nvSpPr>
          <p:cNvPr id="8" name="Text 5"/>
          <p:cNvSpPr/>
          <p:nvPr/>
        </p:nvSpPr>
        <p:spPr>
          <a:xfrm>
            <a:off x="548640" y="1737360"/>
            <a:ext cx="1463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catalogue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039112" y="2084832"/>
            <a:ext cx="173736" cy="219456"/>
          </a:xfrm>
          <a:prstGeom prst="rightArrow">
            <a:avLst/>
          </a:prstGeom>
          <a:solidFill>
            <a:srgbClr val="F96167"/>
          </a:solidFill>
        </p:spPr>
      </p:sp>
      <p:sp>
        <p:nvSpPr>
          <p:cNvPr id="10" name="Shape 7"/>
          <p:cNvSpPr/>
          <p:nvPr/>
        </p:nvSpPr>
        <p:spPr>
          <a:xfrm>
            <a:off x="2240280" y="1737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</p:spPr>
      </p:sp>
      <p:sp>
        <p:nvSpPr>
          <p:cNvPr id="11" name="Text 8"/>
          <p:cNvSpPr/>
          <p:nvPr/>
        </p:nvSpPr>
        <p:spPr>
          <a:xfrm>
            <a:off x="2240280" y="1737360"/>
            <a:ext cx="1463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730752" y="2084832"/>
            <a:ext cx="173736" cy="219456"/>
          </a:xfrm>
          <a:prstGeom prst="rightArrow">
            <a:avLst/>
          </a:prstGeom>
          <a:solidFill>
            <a:srgbClr val="F96167"/>
          </a:solidFill>
        </p:spPr>
      </p:sp>
      <p:sp>
        <p:nvSpPr>
          <p:cNvPr id="13" name="Shape 10"/>
          <p:cNvSpPr/>
          <p:nvPr/>
        </p:nvSpPr>
        <p:spPr>
          <a:xfrm>
            <a:off x="3931920" y="1737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</p:spPr>
      </p:sp>
      <p:sp>
        <p:nvSpPr>
          <p:cNvPr id="14" name="Text 11"/>
          <p:cNvSpPr/>
          <p:nvPr/>
        </p:nvSpPr>
        <p:spPr>
          <a:xfrm>
            <a:off x="3931920" y="1737360"/>
            <a:ext cx="1463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22392" y="2084832"/>
            <a:ext cx="173736" cy="219456"/>
          </a:xfrm>
          <a:prstGeom prst="rightArrow">
            <a:avLst/>
          </a:prstGeom>
          <a:solidFill>
            <a:srgbClr val="F96167"/>
          </a:solidFill>
        </p:spPr>
      </p:sp>
      <p:sp>
        <p:nvSpPr>
          <p:cNvPr id="16" name="Shape 13"/>
          <p:cNvSpPr/>
          <p:nvPr/>
        </p:nvSpPr>
        <p:spPr>
          <a:xfrm>
            <a:off x="5623560" y="1737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</p:spPr>
      </p:sp>
      <p:sp>
        <p:nvSpPr>
          <p:cNvPr id="17" name="Text 14"/>
          <p:cNvSpPr/>
          <p:nvPr/>
        </p:nvSpPr>
        <p:spPr>
          <a:xfrm>
            <a:off x="5623560" y="1737360"/>
            <a:ext cx="1463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114032" y="2084832"/>
            <a:ext cx="173736" cy="219456"/>
          </a:xfrm>
          <a:prstGeom prst="rightArrow">
            <a:avLst/>
          </a:prstGeom>
          <a:solidFill>
            <a:srgbClr val="F96167"/>
          </a:solidFill>
        </p:spPr>
      </p:sp>
      <p:sp>
        <p:nvSpPr>
          <p:cNvPr id="19" name="Shape 16"/>
          <p:cNvSpPr/>
          <p:nvPr/>
        </p:nvSpPr>
        <p:spPr>
          <a:xfrm>
            <a:off x="7315200" y="173736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</p:spPr>
      </p:sp>
      <p:sp>
        <p:nvSpPr>
          <p:cNvPr id="20" name="Text 17"/>
          <p:cNvSpPr/>
          <p:nvPr/>
        </p:nvSpPr>
        <p:spPr>
          <a:xfrm>
            <a:off x="7315200" y="1737360"/>
            <a:ext cx="14630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2880360"/>
            <a:ext cx="8138160" cy="1920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database stores products, customers, orders, payments and shipping.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Stock updates automatically as orders are confirmed or cancelled.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and payment status is available to the customer at any time.</a:t>
            </a:r>
            <a:endParaRPr lang="en-US" sz="16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6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Foreign keys and constraints keep related records consistent.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5F7FC"/>
          </a:solidFill>
        </p:spPr>
      </p:sp>
      <p:sp>
        <p:nvSpPr>
          <p:cNvPr id="4" name="Text 2"/>
          <p:cNvSpPr/>
          <p:nvPr/>
        </p:nvSpPr>
        <p:spPr>
          <a:xfrm>
            <a:off x="548640" y="137160"/>
            <a:ext cx="6583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Key Features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9456"/>
            <a:ext cx="137160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43560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8" name="Text 5"/>
          <p:cNvSpPr/>
          <p:nvPr/>
        </p:nvSpPr>
        <p:spPr>
          <a:xfrm>
            <a:off x="777240" y="143560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1892808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accounts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167128"/>
            <a:ext cx="2240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Registration, login and saved delivery addresses.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11880" y="143560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0"/>
          <p:cNvSpPr/>
          <p:nvPr/>
        </p:nvSpPr>
        <p:spPr>
          <a:xfrm>
            <a:off x="3611880" y="143560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11880" y="1892808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catalogue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11880" y="2167128"/>
            <a:ext cx="2240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Products grouped by category with price and stock.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46520" y="143560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5"/>
          <p:cNvSpPr/>
          <p:nvPr/>
        </p:nvSpPr>
        <p:spPr>
          <a:xfrm>
            <a:off x="6446520" y="143560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46520" y="1892808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&amp; filter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446520" y="2167128"/>
            <a:ext cx="2240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items by name, category or price range.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321868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0"/>
          <p:cNvSpPr/>
          <p:nvPr/>
        </p:nvSpPr>
        <p:spPr>
          <a:xfrm>
            <a:off x="777240" y="321868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77240" y="3675888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Shopping cart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77240" y="3950208"/>
            <a:ext cx="2240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Add, update quantity or remove items before checkout.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38328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611880" y="321868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5"/>
          <p:cNvSpPr/>
          <p:nvPr/>
        </p:nvSpPr>
        <p:spPr>
          <a:xfrm>
            <a:off x="3611880" y="321868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11880" y="3675888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management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3611880" y="3950208"/>
            <a:ext cx="2240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items, totals and status from placed to delivered.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21792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46520" y="3218688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3" name="Text 30"/>
          <p:cNvSpPr/>
          <p:nvPr/>
        </p:nvSpPr>
        <p:spPr>
          <a:xfrm>
            <a:off x="6446520" y="321868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446520" y="3675888"/>
            <a:ext cx="2194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records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446520" y="3950208"/>
            <a:ext cx="2240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mode, transaction status and invoice details.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5F7FC"/>
          </a:solidFill>
        </p:spPr>
      </p:sp>
      <p:sp>
        <p:nvSpPr>
          <p:cNvPr id="4" name="Text 2"/>
          <p:cNvSpPr/>
          <p:nvPr/>
        </p:nvSpPr>
        <p:spPr>
          <a:xfrm>
            <a:off x="548640" y="137160"/>
            <a:ext cx="65836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9456"/>
            <a:ext cx="137160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05840" y="1234440"/>
            <a:ext cx="713232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</p:spPr>
      </p:sp>
      <p:sp>
        <p:nvSpPr>
          <p:cNvPr id="7" name="Text 4"/>
          <p:cNvSpPr/>
          <p:nvPr/>
        </p:nvSpPr>
        <p:spPr>
          <a:xfrm>
            <a:off x="1280160" y="134416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Layer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80160" y="1691640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/ mobile storefront — product pages, cart, checkout, order history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2167128"/>
            <a:ext cx="274320" cy="182880"/>
          </a:xfrm>
          <a:prstGeom prst="downArrow">
            <a:avLst/>
          </a:prstGeom>
          <a:solidFill>
            <a:srgbClr val="F96167"/>
          </a:solidFill>
        </p:spPr>
      </p:sp>
      <p:sp>
        <p:nvSpPr>
          <p:cNvPr id="10" name="Shape 7"/>
          <p:cNvSpPr/>
          <p:nvPr/>
        </p:nvSpPr>
        <p:spPr>
          <a:xfrm>
            <a:off x="1005840" y="2377440"/>
            <a:ext cx="7132320" cy="914400"/>
          </a:xfrm>
          <a:prstGeom prst="roundRect">
            <a:avLst>
              <a:gd name="adj" fmla="val 8000"/>
            </a:avLst>
          </a:prstGeom>
          <a:solidFill>
            <a:srgbClr val="2E4380"/>
          </a:solidFill>
        </p:spPr>
      </p:sp>
      <p:sp>
        <p:nvSpPr>
          <p:cNvPr id="11" name="Text 8"/>
          <p:cNvSpPr/>
          <p:nvPr/>
        </p:nvSpPr>
        <p:spPr>
          <a:xfrm>
            <a:off x="1280160" y="248716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Layer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80160" y="2834640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 — search, cart handling, order processing, payment validation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34840" y="3310128"/>
            <a:ext cx="274320" cy="182880"/>
          </a:xfrm>
          <a:prstGeom prst="downArrow">
            <a:avLst/>
          </a:prstGeom>
          <a:solidFill>
            <a:srgbClr val="F96167"/>
          </a:solidFill>
        </p:spPr>
      </p:sp>
      <p:sp>
        <p:nvSpPr>
          <p:cNvPr id="14" name="Shape 11"/>
          <p:cNvSpPr/>
          <p:nvPr/>
        </p:nvSpPr>
        <p:spPr>
          <a:xfrm>
            <a:off x="1005840" y="3520440"/>
            <a:ext cx="7132320" cy="914400"/>
          </a:xfrm>
          <a:prstGeom prst="roundRect">
            <a:avLst>
              <a:gd name="adj" fmla="val 8000"/>
            </a:avLst>
          </a:prstGeom>
          <a:solidFill>
            <a:srgbClr val="16204D"/>
          </a:solidFill>
        </p:spPr>
      </p:sp>
      <p:sp>
        <p:nvSpPr>
          <p:cNvPr id="15" name="Text 12"/>
          <p:cNvSpPr/>
          <p:nvPr/>
        </p:nvSpPr>
        <p:spPr>
          <a:xfrm>
            <a:off x="1280160" y="363016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Layer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280160" y="3977640"/>
            <a:ext cx="6583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relational database — Customer, Product, Order, Payment, Category tables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4663440"/>
            <a:ext cx="7132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4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layer talks only to the layer below it, keeping the design modular and easy to maintain.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6583680" cy="566928"/>
          </a:xfrm>
          <a:prstGeom prst="rect">
            <a:avLst/>
          </a:prstGeom>
          <a:noFill/>
        </p:spPr>
        <p:txBody>
          <a:bodyPr wrap="square" lIns="0" tIns="54864" r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22222"/>
                </a:solidFill>
                <a:latin typeface="Georgia" panose="02040502050405020303"/>
              </a:defRPr>
            </a:pPr>
            <a:r>
              <a:rPr sz="2400" b="1">
                <a:solidFill>
                  <a:srgbClr val="1E2761"/>
                </a:solidFill>
                <a:latin typeface="Georgia" panose="02040502050405020303"/>
              </a:rPr>
              <a:t>15. Conclusion</a:t>
            </a:r>
            <a:endParaRPr sz="2400" b="1">
              <a:solidFill>
                <a:srgbClr val="1E2761"/>
              </a:solidFill>
              <a:latin typeface="Georgia" panose="02040502050405020303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219456"/>
            <a:ext cx="1371600" cy="502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115568"/>
            <a:ext cx="7955279" cy="841248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The Online Shopping System provides a structured relational database for e-commerce activities.</a:t>
            </a:r>
            <a:endParaRPr sz="1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4360" y="2258568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36776" y="2029968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2103120" cy="822960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It centralises product, customer, order, payment and shipping information.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91840" y="2258568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34256" y="2029968"/>
            <a:ext cx="384048" cy="38404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74720" y="2542032"/>
            <a:ext cx="2103120" cy="822960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Keys and constraints improve data integrity and reduce duplication.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89320" y="2258568"/>
            <a:ext cx="24688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31736" y="2029968"/>
            <a:ext cx="384048" cy="384048"/>
          </a:xfrm>
          <a:prstGeom prst="ellipse">
            <a:avLst/>
          </a:prstGeom>
          <a:solidFill>
            <a:srgbClr val="2E4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72200" y="2542032"/>
            <a:ext cx="2103120" cy="822960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42A3A"/>
                </a:solidFill>
                <a:latin typeface="Aptos"/>
              </a:rPr>
              <a:t>SQL queries support efficient data insertion, modification, retrieval and management.</a:t>
            </a:r>
            <a:endParaRPr sz="1150" b="0">
              <a:solidFill>
                <a:srgbClr val="242A3A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51560" y="3886200"/>
            <a:ext cx="7040880" cy="594360"/>
          </a:xfrm>
          <a:prstGeom prst="roundRect">
            <a:avLst>
              <a:gd name="adj" fmla="val 8000"/>
            </a:avLst>
          </a:prstGeom>
          <a:solidFill>
            <a:srgbClr val="EC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E2761"/>
                </a:solidFill>
                <a:latin typeface="Aptos"/>
              </a:rPr>
              <a:t>The project demonstrates practical application of DBMS concepts to an everyday business system.</a:t>
            </a:r>
            <a:endParaRPr sz="1250" b="1">
              <a:solidFill>
                <a:srgbClr val="1E2761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4818888"/>
            <a:ext cx="7955279" cy="164592"/>
          </a:xfrm>
          <a:prstGeom prst="rect">
            <a:avLst/>
          </a:prstGeom>
          <a:noFill/>
        </p:spPr>
        <p:txBody>
          <a:bodyPr wrap="square" lIns="109728" tIns="54864" rIns="10972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06778"/>
                </a:solidFill>
                <a:latin typeface="Aptos"/>
              </a:rPr>
              <a:t>ONLINE SHOPPING SYSTEM   •   DATABASE MANAGEMENT SYSTEM PROJECT</a:t>
            </a:r>
            <a:endParaRPr sz="750" b="1">
              <a:solidFill>
                <a:srgbClr val="6067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287780"/>
            <a:ext cx="3840480" cy="3840480"/>
          </a:xfrm>
          <a:prstGeom prst="ellipse">
            <a:avLst/>
          </a:prstGeom>
          <a:solidFill>
            <a:srgbClr val="CADCFC">
              <a:alpha val="6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371600" y="2926080"/>
            <a:ext cx="3291840" cy="3291840"/>
          </a:xfrm>
          <a:prstGeom prst="ellipse">
            <a:avLst/>
          </a:prstGeom>
          <a:solidFill>
            <a:srgbClr val="F5F7FC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7805"/>
            <a:ext cx="1380490" cy="5137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7680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300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4023360" y="2880360"/>
            <a:ext cx="1097280" cy="54864"/>
          </a:xfrm>
          <a:prstGeom prst="rect">
            <a:avLst/>
          </a:prstGeom>
          <a:solidFill>
            <a:srgbClr val="F96167"/>
          </a:solidFill>
        </p:spPr>
      </p:sp>
      <p:sp>
        <p:nvSpPr>
          <p:cNvPr id="7" name="Text 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226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Shopping System  •  Database Management System Project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10053</Words>
  <Application>WPS Presentation</Application>
  <PresentationFormat>On-screen Show (16:9)</PresentationFormat>
  <Paragraphs>529</Paragraphs>
  <Slides>25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Georgia</vt:lpstr>
      <vt:lpstr>Aptos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Sai Sushmanth</cp:lastModifiedBy>
  <cp:revision>8</cp:revision>
  <dcterms:created xsi:type="dcterms:W3CDTF">2026-08-24T15:31:00Z</dcterms:created>
  <dcterms:modified xsi:type="dcterms:W3CDTF">2026-09-20T12:41:51Z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B475B38C606A4B60A265A3C1FE49F684_13</vt:lpwstr>
  </property>
</Properties>
</file>